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7772400" y="-182880"/>
            <a:ext cx="1828800" cy="457200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3" name="Shape 1"/>
          <p:cNvSpPr/>
          <p:nvPr/>
        </p:nvSpPr>
        <p:spPr>
          <a:xfrm rot="600000">
            <a:off x="8412480" y="-91440"/>
            <a:ext cx="1371600" cy="3657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2926080" cy="1325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EPMO Intelligence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2286000" cy="0"/>
          </a:xfrm>
          <a:prstGeom prst="line">
            <a:avLst/>
          </a:prstGeom>
          <a:noFill/>
          <a:ln w="38100">
            <a:solidFill>
              <a:srgbClr val="2D9B9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Performance Report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17,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F I D E N T I A 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8229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65960" cy="8229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1097280"/>
            <a:ext cx="54864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16.5M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889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65960" cy="8229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097280"/>
            <a:ext cx="54864" cy="822960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65960" cy="8229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3720" y="1097280"/>
            <a:ext cx="54864" cy="822960"/>
          </a:xfrm>
          <a:prstGeom prst="rect">
            <a:avLst/>
          </a:prstGeom>
          <a:solidFill>
            <a:srgbClr val="FFB2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143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8660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164592" cy="164592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Track: 10 projects (50%)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36392"/>
            <a:ext cx="164592" cy="164592"/>
          </a:xfrm>
          <a:prstGeom prst="rect">
            <a:avLst/>
          </a:prstGeom>
          <a:solidFill>
            <a:srgbClr val="FFB22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Delayed: 5 projects (25%)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483864"/>
            <a:ext cx="164592" cy="16459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3 projects (15%)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831336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85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Completed: 2 projects (10%)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2743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Completion: 62%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Utilization: 65%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Execution: 87.8%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Milestones: 78.5%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84.5%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3.9/5.0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(50%)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64592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83080"/>
            <a:ext cx="2057400" cy="164592"/>
          </a:xfrm>
          <a:prstGeom prst="rect">
            <a:avLst/>
          </a:prstGeom>
          <a:solidFill>
            <a:srgbClr val="2D9B9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(25%)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114800" cy="164592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60320"/>
            <a:ext cx="1028700" cy="164592"/>
          </a:xfrm>
          <a:prstGeom prst="rect">
            <a:avLst/>
          </a:prstGeom>
          <a:solidFill>
            <a:srgbClr val="FFB22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(15%)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114800" cy="164592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337560"/>
            <a:ext cx="617220" cy="16459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4114800" cy="164592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14800"/>
            <a:ext cx="411480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by Department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1508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Tech..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8780K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737360"/>
            <a:ext cx="3840480" cy="1371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1737360"/>
            <a:ext cx="384048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Budget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2075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1660K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304288"/>
            <a:ext cx="3840480" cy="1371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2304288"/>
            <a:ext cx="726104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6426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871216"/>
            <a:ext cx="3840480" cy="1371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2871216"/>
            <a:ext cx="551139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09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55280" y="3209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438144"/>
            <a:ext cx="3840480" cy="1371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3438144"/>
            <a:ext cx="524895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776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Transfor..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55280" y="3776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1170K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4005072"/>
            <a:ext cx="3840480" cy="1371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0" y="4005072"/>
            <a:ext cx="511772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Plann..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4572000"/>
            <a:ext cx="3840480" cy="13716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0" y="4572000"/>
            <a:ext cx="34993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Budget: SAR 16.5M  |  Spent: SAR 10.8M (65%)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&amp; Delayed Projects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requiring immediate leadership attention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731520"/>
                <a:gridCol w="731520"/>
                <a:gridCol w="640080"/>
                <a:gridCol w="640080"/>
                <a:gridCol w="548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Spent%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Upgrade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2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Enhancem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Building Managem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 Management Sy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&amp; Budg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2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Management 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 Framew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2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 Compliance Automat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2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Affairs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B2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D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Execution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85%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87.8%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155448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Achievement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155448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4.0/5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3.9/5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337560" y="2926080"/>
            <a:ext cx="2651760" cy="155448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747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Escalations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2.0 max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24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1143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 projects need steering committee review. Cybersecurity and Vendor Mgmt highest priority.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Plans for Delayed Projects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delayed projects require recovery plans. ERP Upgrade and Treasury Mgmt largest exposure.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44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Reallocation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3063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at 65%. 3 projects over 80% spent.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6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3.9/5.0, 2.2 escalations avg. Recommend communication plan.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ARRC EPMO Intelligence Platform  |  May 17, 2026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ARRC EPMO Portfolio Report</dc:title>
  <dc:subject>PptxGenJS Presentation</dc:subject>
  <dc:creator>ARRC Intelligence Platform</dc:creator>
  <cp:lastModifiedBy>ARRC Intelligence Platform</cp:lastModifiedBy>
  <cp:revision>1</cp:revision>
  <dcterms:created xsi:type="dcterms:W3CDTF">2026-05-17T06:45:41Z</dcterms:created>
  <dcterms:modified xsi:type="dcterms:W3CDTF">2026-05-17T06:45:41Z</dcterms:modified>
</cp:coreProperties>
</file>